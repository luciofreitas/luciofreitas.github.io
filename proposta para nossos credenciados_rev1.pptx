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3" r:id="rId15"/>
    <p:sldId id="266" r:id="rId16"/>
    <p:sldId id="267" r:id="rId17"/>
    <p:sldId id="268" r:id="rId18"/>
    <p:sldId id="269" r:id="rId19"/>
    <p:sldId id="270" r:id="rId20"/>
    <p:sldId id="271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83" d="100"/>
          <a:sy n="83" d="100"/>
        </p:scale>
        <p:origin x="80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8.png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15.jpe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2.png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19.jpe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jpe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36.png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jpeg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37.jpe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image" Target="../media/image42.jpe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image" Target="../media/image4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8.jpe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5.jpeg"/><Relationship Id="rId1" Type="http://schemas.openxmlformats.org/officeDocument/2006/relationships/image" Target="../media/image4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2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029200" cy="51435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4950" y="579388"/>
            <a:ext cx="3454003" cy="497579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5314950" y="1821879"/>
            <a:ext cx="3454003" cy="18466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kern="0" spc="1" dirty="0">
                <a:solidFill>
                  <a:srgbClr val="C4A57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EVOLUÇÃO DE CREDENCIADO PARA FRANQUEADO</a:t>
            </a:r>
            <a:endParaRPr lang="en-US" sz="1200" b="1" kern="0" spc="1" dirty="0">
              <a:solidFill>
                <a:srgbClr val="C4A574"/>
              </a:solidFill>
              <a:latin typeface="Inter SemiBold" pitchFamily="34" charset="0"/>
              <a:ea typeface="Inter SemiBold" pitchFamily="34" charset="-122"/>
              <a:cs typeface="Inter SemiBold" pitchFamily="34" charset="-120"/>
            </a:endParaRPr>
          </a:p>
        </p:txBody>
      </p:sp>
      <p:sp>
        <p:nvSpPr>
          <p:cNvPr id="6" name="Text 1"/>
          <p:cNvSpPr/>
          <p:nvPr/>
        </p:nvSpPr>
        <p:spPr>
          <a:xfrm>
            <a:off x="5314950" y="2679129"/>
            <a:ext cx="3454003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Transformando operação em posicionamento de marca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5314950" y="3416331"/>
            <a:ext cx="3454003" cy="6906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200" dirty="0">
                <a:solidFill>
                  <a:srgbClr val="2C2C2C">
                    <a:alpha val="8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Hoje não é sobre explicar o negócio, porque você já conhece. É sobre mostrar o potencial que você ainda não está capturando.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>
            <a:alphaModFix amt="3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71563" y="1368754"/>
            <a:ext cx="7000875" cy="48005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Você já faz parte da Metacorpus</a:t>
            </a:r>
            <a:endParaRPr lang="en-US" sz="2850" dirty="0"/>
          </a:p>
        </p:txBody>
      </p:sp>
      <p:sp>
        <p:nvSpPr>
          <p:cNvPr id="5" name="Text 1"/>
          <p:cNvSpPr/>
          <p:nvPr/>
        </p:nvSpPr>
        <p:spPr>
          <a:xfrm>
            <a:off x="1071563" y="2220283"/>
            <a:ext cx="7000875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900" i="1" dirty="0">
                <a:solidFill>
                  <a:srgbClr val="C4A574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é sobre o nível de crescimento que você quer alcançar</a:t>
            </a:r>
            <a:endParaRPr lang="en-US" sz="1900" dirty="0"/>
          </a:p>
        </p:txBody>
      </p:sp>
      <p:sp>
        <p:nvSpPr>
          <p:cNvPr id="6" name="Text 2"/>
          <p:cNvSpPr/>
          <p:nvPr/>
        </p:nvSpPr>
        <p:spPr>
          <a:xfrm>
            <a:off x="1071563" y="3226101"/>
            <a:ext cx="7000875" cy="5486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8000"/>
              </a:lnSpc>
              <a:buNone/>
            </a:pPr>
            <a:r>
              <a:rPr lang="en-US" sz="1250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Você já está dentro do ecossistema. A pergunta agora não é se funciona. É até onde você quer levar o seu studio.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Você já construiu um bom negócio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846659"/>
            <a:ext cx="214313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14375" y="2289572"/>
            <a:ext cx="1034058" cy="4457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Operação
estruturada</a:t>
            </a:r>
            <a:endParaRPr lang="en-US" sz="12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22" y="1846659"/>
            <a:ext cx="214313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381366" y="2289572"/>
            <a:ext cx="1335881" cy="4457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Base de alunos
ativa</a:t>
            </a:r>
            <a:endParaRPr lang="en-US" sz="12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8375" y="1846659"/>
            <a:ext cx="128588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048356" y="2289572"/>
            <a:ext cx="1067991" cy="4457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Presença
consolidada</a:t>
            </a:r>
            <a:endParaRPr lang="en-US" sz="1200" dirty="0"/>
          </a:p>
        </p:txBody>
      </p:sp>
      <p:sp>
        <p:nvSpPr>
          <p:cNvPr id="10" name="Shape 4"/>
          <p:cNvSpPr/>
          <p:nvPr/>
        </p:nvSpPr>
        <p:spPr>
          <a:xfrm>
            <a:off x="714375" y="4014788"/>
            <a:ext cx="771525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Shape 5"/>
          <p:cNvSpPr/>
          <p:nvPr/>
        </p:nvSpPr>
        <p:spPr>
          <a:xfrm>
            <a:off x="714375" y="4014788"/>
            <a:ext cx="14288" cy="557213"/>
          </a:xfrm>
          <a:prstGeom prst="rect">
            <a:avLst/>
          </a:prstGeom>
          <a:solidFill>
            <a:srgbClr val="C4A574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928688" y="4014788"/>
            <a:ext cx="750093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Você já provou que sabe operar.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28688" y="4364831"/>
            <a:ext cx="750093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Você já fez o mais difícil. Você já construiu um studio que funciona.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7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6500" y="714375"/>
            <a:ext cx="2143125" cy="1428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6286500" y="714375"/>
            <a:ext cx="2143125" cy="14288"/>
          </a:xfrm>
          <a:prstGeom prst="rect">
            <a:avLst/>
          </a:prstGeom>
          <a:solidFill>
            <a:srgbClr val="E2D2BA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14375" y="857250"/>
            <a:ext cx="3429000" cy="19202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Todo studio independente tem um teto invisível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714375" y="3434693"/>
            <a:ext cx="3429000" cy="5200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4A57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Não é falta de competência.
É limitação de estrutura.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4375" y="4061892"/>
            <a:ext cx="3429000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que trava crescimento não é esforço, é estrutura. E isso ninguém resolve sozinho.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72025" y="1714500"/>
            <a:ext cx="2925366" cy="28002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 depende do dono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772025" y="2351717"/>
            <a:ext cx="2971800" cy="28002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Marca limitada ao alcance local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772025" y="2988934"/>
            <a:ext cx="3239691" cy="28002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Captação exige esforço constante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28663"/>
            <a:ext cx="7715250" cy="83581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kern="0" spc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que diferencia quem cresce de verdade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534" y="2307431"/>
            <a:ext cx="257175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47961" y="2850356"/>
            <a:ext cx="848320" cy="24288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kern="0" spc="2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MARCA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3086993" y="2157413"/>
            <a:ext cx="260747" cy="5572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500" dirty="0">
                <a:solidFill>
                  <a:srgbClr val="C4A57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+</a:t>
            </a:r>
            <a:endParaRPr lang="en-US" sz="35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024" y="2307431"/>
            <a:ext cx="257175" cy="2286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773239" y="2850356"/>
            <a:ext cx="1378744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kern="0" spc="2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ESTRUTURA</a:t>
            </a:r>
            <a:endParaRPr lang="en-US" sz="1400" dirty="0"/>
          </a:p>
        </p:txBody>
      </p:sp>
      <p:sp>
        <p:nvSpPr>
          <p:cNvPr id="9" name="Text 4"/>
          <p:cNvSpPr/>
          <p:nvPr/>
        </p:nvSpPr>
        <p:spPr>
          <a:xfrm>
            <a:off x="5577483" y="2157413"/>
            <a:ext cx="260747" cy="5572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3500" dirty="0">
                <a:solidFill>
                  <a:srgbClr val="C4A57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+</a:t>
            </a:r>
            <a:endParaRPr lang="en-US" sz="35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8190" y="2307431"/>
            <a:ext cx="228600" cy="2286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5981105" y="2850356"/>
            <a:ext cx="2162770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400" kern="0" spc="2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POSICIONAMENTO</a:t>
            </a:r>
            <a:endParaRPr lang="en-US" sz="1400" dirty="0"/>
          </a:p>
        </p:txBody>
      </p:sp>
      <p:sp>
        <p:nvSpPr>
          <p:cNvPr id="12" name="Text 6"/>
          <p:cNvSpPr/>
          <p:nvPr/>
        </p:nvSpPr>
        <p:spPr>
          <a:xfrm>
            <a:off x="714375" y="4011941"/>
            <a:ext cx="7715250" cy="5600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Tem gente que trabalha muito e cresce pouco, e tem gente que se </a:t>
            </a:r>
            <a:r>
              <a:rPr lang="en-US" sz="1400" dirty="0">
                <a:solidFill>
                  <a:srgbClr val="C4A57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posiciona melhor e cresce rápido</a:t>
            </a:r>
            <a:r>
              <a:rPr lang="en-US" sz="150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714375"/>
            <a:ext cx="3471863" cy="3714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4179094" y="714375"/>
            <a:ext cx="7144" cy="3714750"/>
          </a:xfrm>
          <a:prstGeom prst="rect">
            <a:avLst/>
          </a:prstGeom>
          <a:solidFill>
            <a:srgbClr val="E2D2BA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14375" y="1090873"/>
            <a:ext cx="3043238" cy="13201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força da marca Metacorpus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714375" y="2996775"/>
            <a:ext cx="2900363" cy="5200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C4A57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Confiança antes do primeiro contato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14375" y="3623974"/>
            <a:ext cx="2900363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050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cliente já chega confiando, e isso muda completamente o jogo de conversão.</a:t>
            </a:r>
            <a:endParaRPr lang="en-US" sz="10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7756" y="1463073"/>
            <a:ext cx="128588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400675" y="1251635"/>
            <a:ext cx="2025253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Reconhecimento
consolidado</a:t>
            </a:r>
            <a:endParaRPr lang="en-US" sz="16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325" y="2486025"/>
            <a:ext cx="171450" cy="1714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400675" y="2274587"/>
            <a:ext cx="1548408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Formação de
profissionais</a:t>
            </a:r>
            <a:endParaRPr lang="en-US" sz="16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6325" y="3508977"/>
            <a:ext cx="171450" cy="1714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400675" y="3297538"/>
            <a:ext cx="1323380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Autoridade
construída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571500"/>
            <a:ext cx="4029075" cy="72391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Ao </a:t>
            </a:r>
            <a:r>
              <a:rPr lang="en-US" sz="2450" b="1" dirty="0" err="1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virar</a:t>
            </a: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 Metacorpus,
você herda valor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225" y="1851627"/>
            <a:ext cx="114300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0125" y="1787333"/>
            <a:ext cx="2341364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Credibilidade imediata</a:t>
            </a:r>
            <a:endParaRPr lang="en-US" sz="14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" y="2280252"/>
            <a:ext cx="114300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000124" y="2215958"/>
            <a:ext cx="3179989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 err="1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Posicionamento</a:t>
            </a: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 de mercado</a:t>
            </a:r>
            <a:endParaRPr lang="en-US" sz="14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225" y="2708877"/>
            <a:ext cx="11430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000125" y="2644583"/>
            <a:ext cx="2819995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Percepção de valor elevada</a:t>
            </a:r>
            <a:endParaRPr lang="en-US" sz="1400" dirty="0"/>
          </a:p>
        </p:txBody>
      </p:sp>
      <p:sp>
        <p:nvSpPr>
          <p:cNvPr id="10" name="Text 4"/>
          <p:cNvSpPr/>
          <p:nvPr/>
        </p:nvSpPr>
        <p:spPr>
          <a:xfrm>
            <a:off x="757238" y="3837645"/>
            <a:ext cx="3843338" cy="5200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Você deixa de construir marca.
Passa a operar com uma.</a:t>
            </a:r>
            <a:endParaRPr lang="en-US" sz="1400" dirty="0"/>
          </a:p>
        </p:txBody>
      </p:sp>
      <p:sp>
        <p:nvSpPr>
          <p:cNvPr id="11" name="Text 5"/>
          <p:cNvSpPr/>
          <p:nvPr/>
        </p:nvSpPr>
        <p:spPr>
          <a:xfrm>
            <a:off x="757238" y="4429125"/>
            <a:ext cx="3843338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2C2C2C">
                    <a:alpha val="8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Você não precisa mais construir marca, você passa a usar uma pronta.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Impacto direto no seu negócio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0" y="2010966"/>
            <a:ext cx="17145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53728" y="2382441"/>
            <a:ext cx="1207294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Mais
conversão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6275" y="2010966"/>
            <a:ext cx="171450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046934" y="2382441"/>
            <a:ext cx="1050131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Mais
retenção</a:t>
            </a:r>
            <a:endParaRPr lang="en-US" sz="16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900" y="2010966"/>
            <a:ext cx="171450" cy="2286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541889" y="2382441"/>
            <a:ext cx="1489472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Mais
ticket médio</a:t>
            </a:r>
            <a:endParaRPr lang="en-US" sz="1600" dirty="0"/>
          </a:p>
        </p:txBody>
      </p:sp>
      <p:sp>
        <p:nvSpPr>
          <p:cNvPr id="10" name="Shape 4"/>
          <p:cNvSpPr/>
          <p:nvPr/>
        </p:nvSpPr>
        <p:spPr>
          <a:xfrm>
            <a:off x="714375" y="4014788"/>
            <a:ext cx="771525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Shape 5"/>
          <p:cNvSpPr/>
          <p:nvPr/>
        </p:nvSpPr>
        <p:spPr>
          <a:xfrm>
            <a:off x="714375" y="4014788"/>
            <a:ext cx="14288" cy="557213"/>
          </a:xfrm>
          <a:prstGeom prst="rect">
            <a:avLst/>
          </a:prstGeom>
          <a:solidFill>
            <a:srgbClr val="C4A574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928688" y="4014788"/>
            <a:ext cx="750093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Mesma operação, outro resultado.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928688" y="4364831"/>
            <a:ext cx="7500938" cy="2071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Não muda o que você faz. Muda o quanto isso retorna.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8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714375"/>
            <a:ext cx="3429000" cy="1440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Parceria preferencial com Wellhub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4388" y="2897488"/>
            <a:ext cx="85725" cy="1143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43000" y="2833195"/>
            <a:ext cx="2680692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 grandes empresas</a:t>
            </a:r>
            <a:endParaRPr lang="en-US" sz="15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813" y="3468988"/>
            <a:ext cx="142875" cy="1143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143000" y="3404695"/>
            <a:ext cx="2986088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Fluxo contínuo de novos alunos</a:t>
            </a:r>
            <a:endParaRPr lang="en-US" sz="1500" dirty="0"/>
          </a:p>
        </p:txBody>
      </p:sp>
      <p:pic>
        <p:nvPicPr>
          <p:cNvPr id="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" y="4040488"/>
            <a:ext cx="114300" cy="11430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143000" y="3976195"/>
            <a:ext cx="2307431" cy="24288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Canal ativo de aquisição</a:t>
            </a:r>
            <a:endParaRPr lang="en-US" sz="1500" dirty="0"/>
          </a:p>
        </p:txBody>
      </p:sp>
      <p:sp>
        <p:nvSpPr>
          <p:cNvPr id="10" name="Shape 4"/>
          <p:cNvSpPr/>
          <p:nvPr/>
        </p:nvSpPr>
        <p:spPr>
          <a:xfrm>
            <a:off x="4572000" y="714375"/>
            <a:ext cx="3857625" cy="3714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Shape 5"/>
          <p:cNvSpPr/>
          <p:nvPr/>
        </p:nvSpPr>
        <p:spPr>
          <a:xfrm>
            <a:off x="4572000" y="714375"/>
            <a:ext cx="7144" cy="3714750"/>
          </a:xfrm>
          <a:prstGeom prst="rect">
            <a:avLst/>
          </a:prstGeom>
          <a:solidFill>
            <a:srgbClr val="E2D2BA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5143500" y="1517349"/>
            <a:ext cx="3286125" cy="5943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C4A57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Potencial real de impacto direto no faturamento</a:t>
            </a:r>
            <a:endParaRPr lang="en-US" sz="1600" dirty="0"/>
          </a:p>
        </p:txBody>
      </p:sp>
      <p:sp>
        <p:nvSpPr>
          <p:cNvPr id="13" name="Text 7"/>
          <p:cNvSpPr/>
          <p:nvPr/>
        </p:nvSpPr>
        <p:spPr>
          <a:xfrm>
            <a:off x="5143500" y="2254551"/>
            <a:ext cx="3286125" cy="163313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Isso aqui é um dos pontos mais fortes da operação. Não é sobre fazer mais marketing, é sobre ter um canal constante de novos alunos. Em muitos casos, isso já representa uma parte relevante do faturamento. Em alguns casos, chega a dobrar.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68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857250"/>
            <a:ext cx="3429000" cy="14401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Você deixa de competir por preço</a:t>
            </a:r>
            <a:endParaRPr lang="en-US" sz="2850" dirty="0"/>
          </a:p>
        </p:txBody>
      </p:sp>
      <p:sp>
        <p:nvSpPr>
          <p:cNvPr id="4" name="Text 1"/>
          <p:cNvSpPr/>
          <p:nvPr/>
        </p:nvSpPr>
        <p:spPr>
          <a:xfrm>
            <a:off x="900113" y="3766207"/>
            <a:ext cx="3243263" cy="4388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i="1" dirty="0">
                <a:solidFill>
                  <a:srgbClr val="C4A57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"Quando o cliente confia, ele não negocia, ele decide."</a:t>
            </a:r>
            <a:endParaRPr lang="en-US" sz="1400" b="1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7725" y="1102984"/>
            <a:ext cx="114300" cy="1143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072063" y="1000125"/>
            <a:ext cx="2055614" cy="3200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 qualificado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725" y="1780189"/>
            <a:ext cx="114300" cy="1143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072063" y="1677330"/>
            <a:ext cx="2364581" cy="3200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Confiança antecipada</a:t>
            </a:r>
            <a:endParaRPr lang="en-US" sz="17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2457394"/>
            <a:ext cx="114300" cy="11430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5072063" y="2354535"/>
            <a:ext cx="3196828" cy="320018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7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Menor sensibilidade ao preço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34776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6500" y="714375"/>
            <a:ext cx="2143125" cy="1428750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Shape 1"/>
          <p:cNvSpPr/>
          <p:nvPr/>
        </p:nvSpPr>
        <p:spPr>
          <a:xfrm>
            <a:off x="6286500" y="714375"/>
            <a:ext cx="2143125" cy="14288"/>
          </a:xfrm>
          <a:prstGeom prst="rect">
            <a:avLst/>
          </a:prstGeom>
          <a:solidFill>
            <a:srgbClr val="E2D2BA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714375" y="857250"/>
            <a:ext cx="2659380" cy="12617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pt-BR" alt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Requalificação de todo o seu time</a:t>
            </a:r>
            <a:endParaRPr lang="pt-BR" altLang="en-US" sz="2850" b="1" dirty="0">
              <a:solidFill>
                <a:srgbClr val="2C2C2C"/>
              </a:solidFill>
              <a:latin typeface="Montserrat ExtraBold" pitchFamily="34" charset="0"/>
              <a:ea typeface="Montserrat ExtraBold" pitchFamily="34" charset="-122"/>
              <a:cs typeface="Montserrat ExtraBold" pitchFamily="34" charset="-12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14375" y="3434693"/>
            <a:ext cx="3429000" cy="4470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pt-BR" altLang="en-US" sz="1400" dirty="0">
                <a:solidFill>
                  <a:srgbClr val="C4A574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Conexão com uma grande escola de formação em Pilates</a:t>
            </a:r>
            <a:endParaRPr lang="pt-BR" altLang="en-US" sz="1400" dirty="0">
              <a:solidFill>
                <a:srgbClr val="C4A574"/>
              </a:solidFill>
              <a:latin typeface="Montserrat SemiBold" pitchFamily="34" charset="0"/>
              <a:ea typeface="Montserrat SemiBold" pitchFamily="34" charset="-122"/>
              <a:cs typeface="Montserrat SemiBold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14375" y="4061892"/>
            <a:ext cx="3429000" cy="38671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pt-BR" altLang="en-US" sz="1050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Metacorpus formou mais de 18 mil instrutores em todas as regiões do país</a:t>
            </a:r>
            <a:r>
              <a:rPr lang="en-US" sz="1050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72025" y="1714500"/>
            <a:ext cx="2543810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alt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à formação Online </a:t>
            </a:r>
            <a:endParaRPr lang="pt-BR" altLang="en-US" sz="1500" dirty="0">
              <a:solidFill>
                <a:srgbClr val="2C2C2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772025" y="2351717"/>
            <a:ext cx="3173095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alt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Acesso ao treinamento comercial</a:t>
            </a:r>
            <a:endParaRPr lang="pt-BR" altLang="en-US" sz="1500" dirty="0">
              <a:solidFill>
                <a:srgbClr val="2C2C2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4772025" y="2988934"/>
            <a:ext cx="2799715" cy="25781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pt-BR" altLang="en-US" sz="1500" dirty="0">
                <a:solidFill>
                  <a:srgbClr val="2C2C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meses para requalificação</a:t>
            </a:r>
            <a:endParaRPr lang="pt-BR" altLang="en-US" sz="1500" dirty="0">
              <a:solidFill>
                <a:srgbClr val="2C2C2C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Você deixa de operar sozinho</a:t>
            </a:r>
            <a:endParaRPr lang="en-US" sz="2450" dirty="0"/>
          </a:p>
        </p:txBody>
      </p:sp>
      <p:sp>
        <p:nvSpPr>
          <p:cNvPr id="4" name="Shape 1"/>
          <p:cNvSpPr/>
          <p:nvPr/>
        </p:nvSpPr>
        <p:spPr>
          <a:xfrm>
            <a:off x="1585913" y="1718072"/>
            <a:ext cx="571500" cy="571500"/>
          </a:xfrm>
          <a:prstGeom prst="ellipse">
            <a:avLst/>
          </a:prstGeom>
          <a:solidFill>
            <a:srgbClr val="FAF7F2"/>
          </a:solidFill>
          <a:ln w="9144">
            <a:solidFill>
              <a:srgbClr val="C4A5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7363" y="1889522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35844" y="2503884"/>
            <a:ext cx="1671638" cy="5200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Direcionamento
estratégico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286250" y="1718072"/>
            <a:ext cx="571500" cy="571500"/>
          </a:xfrm>
          <a:prstGeom prst="ellipse">
            <a:avLst/>
          </a:prstGeom>
          <a:solidFill>
            <a:srgbClr val="FAF7F2"/>
          </a:solidFill>
          <a:ln w="9144">
            <a:solidFill>
              <a:srgbClr val="C4A5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7700" y="1889522"/>
            <a:ext cx="228600" cy="2286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871913" y="2503884"/>
            <a:ext cx="1400175" cy="2600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Padronização</a:t>
            </a:r>
            <a:endParaRPr lang="en-US" sz="1400" dirty="0"/>
          </a:p>
        </p:txBody>
      </p:sp>
      <p:sp>
        <p:nvSpPr>
          <p:cNvPr id="10" name="Shape 5"/>
          <p:cNvSpPr/>
          <p:nvPr/>
        </p:nvSpPr>
        <p:spPr>
          <a:xfrm>
            <a:off x="6986588" y="1718072"/>
            <a:ext cx="571500" cy="571500"/>
          </a:xfrm>
          <a:prstGeom prst="ellipse">
            <a:avLst/>
          </a:prstGeom>
          <a:solidFill>
            <a:srgbClr val="FAF7F2"/>
          </a:solidFill>
          <a:ln w="9144">
            <a:solidFill>
              <a:srgbClr val="C4A5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8038" y="1889522"/>
            <a:ext cx="228600" cy="22860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664226" y="2503884"/>
            <a:ext cx="1216223" cy="52004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4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Inteligência
operacional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714375" y="4157663"/>
            <a:ext cx="7715250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Você entra em um sistema.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714375" y="4507706"/>
            <a:ext cx="7715250" cy="19236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Hoje você resolve tudo sozinho. Com a Metacorpus, </a:t>
            </a:r>
            <a:r>
              <a:rPr lang="en-US" sz="1250" i="1" dirty="0" err="1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você</a:t>
            </a:r>
            <a:r>
              <a:rPr lang="en-US" sz="125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250" i="1" dirty="0" err="1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ganha</a:t>
            </a:r>
            <a:r>
              <a:rPr lang="en-US" sz="125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 </a:t>
            </a:r>
            <a:r>
              <a:rPr lang="en-US" sz="1250" i="1" dirty="0" err="1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direção</a:t>
            </a:r>
            <a:r>
              <a:rPr lang="en-US" sz="125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41790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Crescimento vira estrutura</a:t>
            </a:r>
            <a:endParaRPr lang="en-US" sz="2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0231" y="1889522"/>
            <a:ext cx="228600" cy="228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60884" y="2503884"/>
            <a:ext cx="1207294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Replicável</a:t>
            </a:r>
            <a:endParaRPr lang="en-US" sz="16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3196828" y="2135981"/>
            <a:ext cx="142875" cy="228600"/>
          </a:xfrm>
          <a:prstGeom prst="rect">
            <a:avLst/>
          </a:prstGeom>
        </p:spPr>
      </p:pic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7700" y="1889522"/>
            <a:ext cx="228600" cy="228600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013002" y="2503884"/>
            <a:ext cx="1117997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Previsível</a:t>
            </a:r>
            <a:endParaRPr lang="en-US" sz="1600" dirty="0"/>
          </a:p>
        </p:txBody>
      </p:sp>
      <p:pic>
        <p:nvPicPr>
          <p:cNvPr id="9" name="Image 4" descr="preencoded.png"/>
          <p:cNvPicPr>
            <a:picLocks noChangeAspect="1"/>
          </p:cNvPicPr>
          <p:nvPr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5804297" y="2135981"/>
            <a:ext cx="142875" cy="228600"/>
          </a:xfrm>
          <a:prstGeom prst="rect">
            <a:avLst/>
          </a:prstGeom>
        </p:spPr>
      </p:pic>
      <p:pic>
        <p:nvPicPr>
          <p:cNvPr id="10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5169" y="1889522"/>
            <a:ext cx="228600" cy="228600"/>
          </a:xfrm>
          <a:prstGeom prst="rect">
            <a:avLst/>
          </a:prstGeom>
        </p:spPr>
      </p:pic>
      <p:sp>
        <p:nvSpPr>
          <p:cNvPr id="11" name="Text 3"/>
          <p:cNvSpPr/>
          <p:nvPr/>
        </p:nvSpPr>
        <p:spPr>
          <a:xfrm>
            <a:off x="6638330" y="2503884"/>
            <a:ext cx="1082278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Escalável</a:t>
            </a:r>
            <a:endParaRPr lang="en-US" sz="1600" dirty="0"/>
          </a:p>
        </p:txBody>
      </p:sp>
      <p:sp>
        <p:nvSpPr>
          <p:cNvPr id="12" name="Text 4"/>
          <p:cNvSpPr/>
          <p:nvPr/>
        </p:nvSpPr>
        <p:spPr>
          <a:xfrm>
            <a:off x="3043536" y="4291971"/>
            <a:ext cx="3056927" cy="24327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b="1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Você sai do improviso e </a:t>
            </a:r>
            <a:r>
              <a:rPr lang="en-US" sz="1400" b="1" dirty="0">
                <a:solidFill>
                  <a:srgbClr val="C4A57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entra na escala</a:t>
            </a:r>
            <a:r>
              <a:rPr lang="en-US" sz="1500" b="1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.</a:t>
            </a:r>
            <a:endParaRPr lang="en-US" sz="1500" b="1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O mercado está evoluindo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4588" y="2052042"/>
            <a:ext cx="385763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716286" y="2723555"/>
            <a:ext cx="1782366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Marcas fortes
crescem</a:t>
            </a:r>
            <a:endParaRPr lang="en-US" sz="1800" dirty="0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3650" y="2052042"/>
            <a:ext cx="385763" cy="3429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5116711" y="2723555"/>
            <a:ext cx="2839641" cy="72006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800" dirty="0">
                <a:solidFill>
                  <a:srgbClr val="2C2C2C">
                    <a:alpha val="5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Independentes ficam
vulneráveis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1933072" y="4311979"/>
            <a:ext cx="5277856" cy="2270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400" b="1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O mercado não vai esperar você decidir. </a:t>
            </a:r>
            <a:r>
              <a:rPr lang="en-US" sz="1400" b="1" dirty="0">
                <a:solidFill>
                  <a:srgbClr val="C4A57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Ele já está evoluindo.</a:t>
            </a:r>
            <a:endParaRPr lang="en-US" sz="1400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4375" y="571500"/>
            <a:ext cx="7715250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A escolha é estratégica</a:t>
            </a:r>
            <a:endParaRPr lang="en-US" sz="28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4404" y="2196871"/>
            <a:ext cx="385763" cy="3429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110085" y="2754083"/>
            <a:ext cx="914400" cy="557213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>
                    <a:alpha val="70000"/>
                  </a:srgbClr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Crescer
sozinho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4424660" y="2614780"/>
            <a:ext cx="294680" cy="2786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i="1" dirty="0">
                <a:solidFill>
                  <a:srgbClr val="C4A574"/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ou</a:t>
            </a:r>
            <a:endParaRPr lang="en-US" sz="1700" dirty="0"/>
          </a:p>
        </p:txBody>
      </p:sp>
      <p:sp>
        <p:nvSpPr>
          <p:cNvPr id="7" name="Shape 3"/>
          <p:cNvSpPr/>
          <p:nvPr/>
        </p:nvSpPr>
        <p:spPr>
          <a:xfrm>
            <a:off x="5147965" y="1861114"/>
            <a:ext cx="2857500" cy="1785938"/>
          </a:xfrm>
          <a:prstGeom prst="rect">
            <a:avLst/>
          </a:prstGeom>
          <a:solidFill>
            <a:srgbClr val="C4A574">
              <a:alpha val="5000"/>
            </a:srgbClr>
          </a:solidFill>
          <a:ln w="18288">
            <a:solidFill>
              <a:srgbClr val="C4A57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2402" y="2196871"/>
            <a:ext cx="428625" cy="34290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840909" y="2754083"/>
            <a:ext cx="1471613" cy="55721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Crescer com
estrutura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1780370" y="4291971"/>
            <a:ext cx="5583260" cy="24468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500" b="1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Essa não é uma decisão operacional. </a:t>
            </a:r>
            <a:r>
              <a:rPr lang="en-US" sz="1400" b="1" i="1" dirty="0">
                <a:solidFill>
                  <a:srgbClr val="C4A574"/>
                </a:solidFill>
                <a:latin typeface="Inter SemiBold" pitchFamily="34" charset="0"/>
                <a:ea typeface="Inter SemiBold" pitchFamily="34" charset="-122"/>
                <a:cs typeface="Inter SemiBold" pitchFamily="34" charset="-120"/>
              </a:rPr>
              <a:t>É uma decisão de crescimento.</a:t>
            </a:r>
            <a:endParaRPr lang="en-US" sz="1500" b="1" i="1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57250" y="571500"/>
            <a:ext cx="7429500" cy="8229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2450" b="1" dirty="0">
                <a:solidFill>
                  <a:srgbClr val="2C2C2C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Virar bandeira é potencializar
o que já funciona</a:t>
            </a:r>
            <a:endParaRPr lang="en-US" sz="2450" dirty="0"/>
          </a:p>
        </p:txBody>
      </p:sp>
      <p:sp>
        <p:nvSpPr>
          <p:cNvPr id="4" name="Text 1"/>
          <p:cNvSpPr/>
          <p:nvPr/>
        </p:nvSpPr>
        <p:spPr>
          <a:xfrm>
            <a:off x="857250" y="1837339"/>
            <a:ext cx="2190759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dirty="0">
                <a:solidFill>
                  <a:srgbClr val="C4A574">
                    <a:alpha val="60000"/>
                  </a:srgbClr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01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857250" y="2523139"/>
            <a:ext cx="2190759" cy="668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Mais
resultado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476634" y="1837339"/>
            <a:ext cx="2190759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dirty="0">
                <a:solidFill>
                  <a:srgbClr val="C4A574">
                    <a:alpha val="60000"/>
                  </a:srgbClr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02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3476634" y="2523139"/>
            <a:ext cx="2190759" cy="668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Mais
posicionamento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096019" y="1837339"/>
            <a:ext cx="2190759" cy="57150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ct val="80000"/>
              </a:lnSpc>
              <a:buNone/>
            </a:pPr>
            <a:r>
              <a:rPr lang="en-US" sz="4400" dirty="0">
                <a:solidFill>
                  <a:srgbClr val="C4A574">
                    <a:alpha val="60000"/>
                  </a:srgbClr>
                </a:solidFill>
                <a:latin typeface="Montserrat Light" pitchFamily="34" charset="0"/>
                <a:ea typeface="Montserrat Light" pitchFamily="34" charset="-122"/>
                <a:cs typeface="Montserrat Light" pitchFamily="34" charset="-120"/>
              </a:rPr>
              <a:t>03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6096019" y="2523139"/>
            <a:ext cx="2190759" cy="66861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Mais
escala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57250" y="4371975"/>
            <a:ext cx="74295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  <p:txBody>
          <a:bodyPr/>
          <a:lstStyle/>
          <a:p>
            <a:endParaRPr lang="pt-BR"/>
          </a:p>
        </p:txBody>
      </p:sp>
      <p:sp>
        <p:nvSpPr>
          <p:cNvPr id="11" name="Shape 8"/>
          <p:cNvSpPr/>
          <p:nvPr/>
        </p:nvSpPr>
        <p:spPr>
          <a:xfrm>
            <a:off x="857250" y="4371975"/>
            <a:ext cx="14288" cy="557213"/>
          </a:xfrm>
          <a:prstGeom prst="rect">
            <a:avLst/>
          </a:prstGeom>
          <a:solidFill>
            <a:srgbClr val="C4A574"/>
          </a:solidFill>
        </p:spPr>
        <p:txBody>
          <a:bodyPr/>
          <a:lstStyle/>
          <a:p>
            <a:endParaRPr lang="pt-BR"/>
          </a:p>
        </p:txBody>
      </p:sp>
      <p:sp>
        <p:nvSpPr>
          <p:cNvPr id="12" name="Text 9"/>
          <p:cNvSpPr/>
          <p:nvPr/>
        </p:nvSpPr>
        <p:spPr>
          <a:xfrm>
            <a:off x="1071563" y="4371975"/>
            <a:ext cx="7215188" cy="278606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2C2C2C"/>
                </a:solidFill>
                <a:latin typeface="Montserrat SemiBold" pitchFamily="34" charset="0"/>
                <a:ea typeface="Montserrat SemiBold" pitchFamily="34" charset="-122"/>
                <a:cs typeface="Montserrat SemiBold" pitchFamily="34" charset="-120"/>
              </a:rPr>
              <a:t>Você não muda o negócio.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1563" y="4722019"/>
            <a:ext cx="7215188" cy="215444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400" i="1" dirty="0">
                <a:solidFill>
                  <a:srgbClr val="2C2C2C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Você eleva o nível dele.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14375" y="1350197"/>
            <a:ext cx="7715250" cy="10972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96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Montserrat ExtraBold" pitchFamily="34" charset="0"/>
                <a:ea typeface="Montserrat ExtraBold" pitchFamily="34" charset="-122"/>
                <a:cs typeface="Montserrat ExtraBold" pitchFamily="34" charset="-120"/>
              </a:rPr>
              <a:t>Você já é Metacorpus na prática</a:t>
            </a:r>
            <a:endParaRPr lang="en-US" sz="3300" dirty="0"/>
          </a:p>
        </p:txBody>
      </p:sp>
      <p:sp>
        <p:nvSpPr>
          <p:cNvPr id="5" name="Text 1"/>
          <p:cNvSpPr/>
          <p:nvPr/>
        </p:nvSpPr>
        <p:spPr>
          <a:xfrm>
            <a:off x="2013217" y="2961782"/>
            <a:ext cx="4901795" cy="63658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1900" b="1" dirty="0">
                <a:solidFill>
                  <a:schemeClr val="bg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Agora é sobre ser percebido como Metacorpus</a:t>
            </a:r>
            <a:endParaRPr lang="en-US" sz="1900" b="1" dirty="0">
              <a:solidFill>
                <a:schemeClr val="bg1"/>
              </a:solidFill>
            </a:endParaRPr>
          </a:p>
        </p:txBody>
      </p:sp>
      <p:sp>
        <p:nvSpPr>
          <p:cNvPr id="6" name="Text 2"/>
          <p:cNvSpPr/>
          <p:nvPr/>
        </p:nvSpPr>
        <p:spPr>
          <a:xfrm>
            <a:off x="2297210" y="3536128"/>
            <a:ext cx="4549579" cy="2412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A única diferença hoje é que o mercado ainda não te vê assim.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3261</Words>
  <Application>WPS Presentation</Application>
  <PresentationFormat>Apresentação na tela (16:9)</PresentationFormat>
  <Paragraphs>184</Paragraphs>
  <Slides>17</Slides>
  <Notes>16</Notes>
  <HiddenSlides>0</HiddenSlides>
  <MMClips>0</MMClips>
  <ScaleCrop>false</ScaleCrop>
  <HeadingPairs>
    <vt:vector size="6" baseType="variant">
      <vt:variant>
        <vt:lpstr>已用的字体</vt:lpstr>
      </vt:variant>
      <vt:variant>
        <vt:i4>30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49" baseType="lpstr">
      <vt:lpstr>Arial</vt:lpstr>
      <vt:lpstr>SimSun</vt:lpstr>
      <vt:lpstr>Wingdings</vt:lpstr>
      <vt:lpstr>Inter SemiBold</vt:lpstr>
      <vt:lpstr>Segoe Print</vt:lpstr>
      <vt:lpstr>Inter SemiBold</vt:lpstr>
      <vt:lpstr>Inter SemiBold</vt:lpstr>
      <vt:lpstr>Montserrat SemiBold</vt:lpstr>
      <vt:lpstr>Montserrat SemiBold</vt:lpstr>
      <vt:lpstr>Montserrat SemiBold</vt:lpstr>
      <vt:lpstr>Inter Light</vt:lpstr>
      <vt:lpstr>Inter Light</vt:lpstr>
      <vt:lpstr>Inter Light</vt:lpstr>
      <vt:lpstr>Montserrat ExtraBold</vt:lpstr>
      <vt:lpstr>Montserrat ExtraBold</vt:lpstr>
      <vt:lpstr>Montserrat ExtraBold</vt:lpstr>
      <vt:lpstr>Montserrat</vt:lpstr>
      <vt:lpstr>Montserrat</vt:lpstr>
      <vt:lpstr>Montserrat</vt:lpstr>
      <vt:lpstr>Inter</vt:lpstr>
      <vt:lpstr>Inter</vt:lpstr>
      <vt:lpstr>Inter</vt:lpstr>
      <vt:lpstr>Montserrat Light</vt:lpstr>
      <vt:lpstr>Montserrat Light</vt:lpstr>
      <vt:lpstr>Montserrat Light</vt:lpstr>
      <vt:lpstr>Calibri</vt:lpstr>
      <vt:lpstr>Microsoft YaHei</vt:lpstr>
      <vt:lpstr>Arial Unicode MS</vt:lpstr>
      <vt:lpstr>Aptos</vt:lpstr>
      <vt:lpstr>MingLiU-ExtB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Micro</cp:lastModifiedBy>
  <cp:revision>4</cp:revision>
  <dcterms:created xsi:type="dcterms:W3CDTF">2026-05-06T22:28:00Z</dcterms:created>
  <dcterms:modified xsi:type="dcterms:W3CDTF">2026-05-21T12:57:47Z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8A4E08E6EEF1493D8A9BB22BF1AA331B</vt:lpwstr>
  </property>
  <property fmtid="{D5CDD505-2E9C-101B-9397-08002B2CF9AE}" pid="3" name="KSOProductBuildVer">
    <vt:lpwstr>1046-11.2.0.11156</vt:lpwstr>
  </property>
</Properties>
</file>