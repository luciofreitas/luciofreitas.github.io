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5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28625"/>
            <a:ext cx="2857500" cy="41213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1379609"/>
            <a:ext cx="4286250" cy="1131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Franquia
Metacorpus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571500" y="2682618"/>
            <a:ext cx="3714750" cy="10972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maior rede de Studios credenciados de Pilates do Brasil. Uma oportunidade única de empreender com solidez, tecnologia e alta rentabilidade.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5000625" y="142875"/>
            <a:ext cx="3857625" cy="4857750"/>
          </a:xfrm>
          <a:prstGeom prst="rect">
            <a:avLst/>
          </a:prstGeom>
          <a:solidFill>
            <a:srgbClr val="E8EDEB"/>
          </a:solidFill>
        </p:spPr>
        <p:txBody>
          <a:bodyPr/>
          <a:lstStyle/>
          <a:p>
            <a:endParaRPr lang="pt-BR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42875"/>
            <a:ext cx="3857625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651697"/>
            <a:ext cx="1428750" cy="2060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602252"/>
            <a:ext cx="4164806" cy="8915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65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 Mercado Wellness em Ascensão</a:t>
            </a:r>
            <a:endParaRPr lang="en-US" sz="2650" dirty="0"/>
          </a:p>
        </p:txBody>
      </p:sp>
      <p:sp>
        <p:nvSpPr>
          <p:cNvPr id="5" name="Text 1"/>
          <p:cNvSpPr/>
          <p:nvPr/>
        </p:nvSpPr>
        <p:spPr>
          <a:xfrm>
            <a:off x="742950" y="1779519"/>
            <a:ext cx="3993356" cy="2661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Expansão Global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42950" y="2188499"/>
            <a:ext cx="3993356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setor cresce 10% ao ano, impulsionado pela busca por saúde preventiva.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42950" y="2802861"/>
            <a:ext cx="3993356" cy="2661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Brasil no Topo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42950" y="3211841"/>
            <a:ext cx="3993356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 maior mercado de estúdios do mundo, com demanda crescente por serviços premium.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2950" y="3826204"/>
            <a:ext cx="3993356" cy="2661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Demanda Wellhub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42950" y="4235183"/>
            <a:ext cx="3993356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Pilates é uma das modalidades mais buscadas, garantindo fluxo constante de alunos.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297091" y="500063"/>
            <a:ext cx="3143250" cy="4143375"/>
          </a:xfrm>
          <a:prstGeom prst="rect">
            <a:avLst/>
          </a:prstGeom>
          <a:solidFill>
            <a:srgbClr val="E8EDEB"/>
          </a:solidFill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091" y="500063"/>
            <a:ext cx="3143250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4651697"/>
            <a:ext cx="1428750" cy="2060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760642"/>
            <a:ext cx="8572500" cy="4800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Por que ser um Franqueado?</a:t>
            </a:r>
            <a:endParaRPr lang="en-US" sz="2850" dirty="0"/>
          </a:p>
        </p:txBody>
      </p:sp>
      <p:sp>
        <p:nvSpPr>
          <p:cNvPr id="5" name="Text 1"/>
          <p:cNvSpPr/>
          <p:nvPr/>
        </p:nvSpPr>
        <p:spPr>
          <a:xfrm>
            <a:off x="571500" y="1412146"/>
            <a:ext cx="6429375" cy="417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3B8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Você não está abrindo um studio. Você entra em um modelo validado, estruturado e pronto para crescer.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28625" y="2230106"/>
            <a:ext cx="196453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Marca e Autoridade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28625" y="2478686"/>
            <a:ext cx="1964531" cy="540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Duas décadas de atuação que geram credibilidade e confiança imediata.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2536031" y="2230106"/>
            <a:ext cx="196453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Geração de Demanda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536031" y="2478686"/>
            <a:ext cx="1964531" cy="540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para atração de alunos com menor custo de aquisição.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643438" y="2230106"/>
            <a:ext cx="196453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Know-how Validado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43438" y="2478686"/>
            <a:ext cx="1964531" cy="540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Processos claros que reduzem erros, tempo de aprendizado e riscos.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750844" y="2230106"/>
            <a:ext cx="196453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Equipamentos Próprios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750844" y="2478686"/>
            <a:ext cx="1964531" cy="540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Padrão elevado, maior durabilidade e menor custo de manutenção.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28625" y="3318774"/>
            <a:ext cx="196453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Modelo Escalável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28625" y="3567354"/>
            <a:ext cx="1964531" cy="540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pronta para expansão e crescimento do seu patrimônio.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536031" y="3318774"/>
            <a:ext cx="1964531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Posicionamento Premium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536031" y="3773072"/>
            <a:ext cx="1964531" cy="540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Foco em valor percebido, público qualificado e ticket médio superior.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643438" y="3318774"/>
            <a:ext cx="196453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Ecossistema Completo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643438" y="3567354"/>
            <a:ext cx="1964531" cy="540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 entre formação, operação, equipamentos e suporte.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0907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4917272"/>
            <a:ext cx="1428750" cy="2060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760642"/>
            <a:ext cx="8572500" cy="4800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 que é o WellHub?</a:t>
            </a:r>
            <a:endParaRPr lang="en-US" sz="2850" dirty="0"/>
          </a:p>
        </p:txBody>
      </p:sp>
      <p:sp>
        <p:nvSpPr>
          <p:cNvPr id="5" name="Text 1"/>
          <p:cNvSpPr/>
          <p:nvPr/>
        </p:nvSpPr>
        <p:spPr>
          <a:xfrm>
            <a:off x="571500" y="1412146"/>
            <a:ext cx="6429375" cy="417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3B8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Uma plataforma de benefícios que leva funcionários das maiores empresas ao seu estúdio.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2415843"/>
            <a:ext cx="3714750" cy="303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Mais Clientes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71500" y="2890903"/>
            <a:ext cx="371475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Acesso direto a colaboradores das maiores empresas parceiras da região.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857750" y="2415843"/>
            <a:ext cx="3714750" cy="303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Receita Recorrente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857750" y="2890903"/>
            <a:ext cx="371475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Check-ins frequentes que garantem um faturamento mensal sólido e previsível.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71500" y="3991040"/>
            <a:ext cx="3714750" cy="303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Maior Visibilidade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71500" y="4466099"/>
            <a:ext cx="3714750" cy="7715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 estúdio promovido ativamente para um público corporativo altamente qualificado.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857750" y="3991040"/>
            <a:ext cx="3714750" cy="303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Diferenciação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57750" y="4466099"/>
            <a:ext cx="371475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Destaque exclusivo e posicionamento de liderança na sua área de atuação.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4651697"/>
            <a:ext cx="1428750" cy="2060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760642"/>
            <a:ext cx="8572500" cy="4800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Flexibilidade para o Seu Perfil</a:t>
            </a:r>
            <a:endParaRPr lang="en-US" sz="2850" dirty="0"/>
          </a:p>
        </p:txBody>
      </p:sp>
      <p:sp>
        <p:nvSpPr>
          <p:cNvPr id="5" name="Text 1"/>
          <p:cNvSpPr/>
          <p:nvPr/>
        </p:nvSpPr>
        <p:spPr>
          <a:xfrm>
            <a:off x="571500" y="1697896"/>
            <a:ext cx="634008" cy="192881"/>
          </a:xfrm>
          <a:prstGeom prst="rect">
            <a:avLst/>
          </a:prstGeom>
          <a:noFill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A3B8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PERFIL 01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571500" y="2219390"/>
            <a:ext cx="2476509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Investidor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71500" y="2876615"/>
            <a:ext cx="2476509" cy="1800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Foco total em rentabilidade e dividendos. Gestão simplificada através de nossos sistemas integrados, permitindo acompanhamento remoto e alta performance financeira.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333759" y="1697896"/>
            <a:ext cx="653653" cy="192881"/>
          </a:xfrm>
          <a:prstGeom prst="rect">
            <a:avLst/>
          </a:prstGeom>
          <a:noFill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A3B8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PERFIL 02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3333759" y="2219390"/>
            <a:ext cx="2476509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Empreendedor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333759" y="2876615"/>
            <a:ext cx="2476509" cy="1800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quem deseja estar à frente do negócio. Oferecemos suporte total desde o primeiro dia para que você possa escalar sua unidade com segurança e solidez.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096019" y="1697896"/>
            <a:ext cx="651867" cy="192881"/>
          </a:xfrm>
          <a:prstGeom prst="rect">
            <a:avLst/>
          </a:prstGeom>
          <a:noFill/>
        </p:spPr>
        <p:txBody>
          <a:bodyPr wrap="non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A3B8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PERFIL 03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6096019" y="2219390"/>
            <a:ext cx="2476509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Profissional de Saúde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096019" y="3219515"/>
            <a:ext cx="2476509" cy="154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sua expertise técnica ao nosso modelo de gestão vencedor. Transforme seu conhecimento em um negócio lucrativo com a estrutura de uma rede líder.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4651697"/>
            <a:ext cx="1428750" cy="2060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572500" cy="4800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Estamos com Você em Cada Etapa</a:t>
            </a:r>
            <a:endParaRPr lang="en-US" sz="2850" dirty="0"/>
          </a:p>
        </p:txBody>
      </p:sp>
      <p:sp>
        <p:nvSpPr>
          <p:cNvPr id="5" name="Text 1"/>
          <p:cNvSpPr/>
          <p:nvPr/>
        </p:nvSpPr>
        <p:spPr>
          <a:xfrm>
            <a:off x="571500" y="1022979"/>
            <a:ext cx="628650" cy="226814"/>
          </a:xfrm>
          <a:prstGeom prst="rect">
            <a:avLst/>
          </a:prstGeom>
          <a:noFill/>
        </p:spPr>
        <p:txBody>
          <a:bodyPr wrap="none" lIns="0" tIns="0" rIns="0" bIns="25527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A3B89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FASE 01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71500" y="1549831"/>
            <a:ext cx="371475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Implantação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71500" y="1949881"/>
            <a:ext cx="3714750" cy="415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viabilidade e </a:t>
            </a:r>
            <a:r>
              <a:rPr lang="pt-BR" alt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 e Design</a:t>
            </a: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padrão.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857750" y="1022979"/>
            <a:ext cx="648295" cy="226814"/>
          </a:xfrm>
          <a:prstGeom prst="rect">
            <a:avLst/>
          </a:prstGeom>
          <a:noFill/>
        </p:spPr>
        <p:txBody>
          <a:bodyPr wrap="none" lIns="0" tIns="0" rIns="0" bIns="25527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A3B89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FASE 02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857750" y="1549831"/>
            <a:ext cx="371475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Treinamento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857750" y="1949881"/>
            <a:ext cx="3714750" cy="46289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Capacitação completa e certificação da equipe.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71500" y="2498499"/>
            <a:ext cx="642938" cy="226814"/>
          </a:xfrm>
          <a:prstGeom prst="rect">
            <a:avLst/>
          </a:prstGeom>
          <a:noFill/>
        </p:spPr>
        <p:txBody>
          <a:bodyPr wrap="none" lIns="0" tIns="0" rIns="0" bIns="25527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A3B89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FASE 03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71500" y="3025350"/>
            <a:ext cx="371475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Operação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71500" y="3425400"/>
            <a:ext cx="2425700" cy="207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Manuais e </a:t>
            </a:r>
            <a:r>
              <a:rPr lang="pt-BR" alt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mentoria</a:t>
            </a: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periódica.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857750" y="2498499"/>
            <a:ext cx="646509" cy="226814"/>
          </a:xfrm>
          <a:prstGeom prst="rect">
            <a:avLst/>
          </a:prstGeom>
          <a:noFill/>
        </p:spPr>
        <p:txBody>
          <a:bodyPr wrap="none" lIns="0" tIns="0" rIns="0" bIns="25527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A3B89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FASE 04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57750" y="3025350"/>
            <a:ext cx="371475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Vendas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857750" y="3425400"/>
            <a:ext cx="3714750" cy="415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Otimização de conversão </a:t>
            </a:r>
            <a:r>
              <a:rPr lang="pt-BR" alt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argumentos de convencimento.</a:t>
            </a:r>
            <a:endParaRPr lang="pt-BR" altLang="en-US" sz="1250" dirty="0">
              <a:solidFill>
                <a:srgbClr val="596A5A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0"/>
          <p:cNvSpPr/>
          <p:nvPr/>
        </p:nvSpPr>
        <p:spPr>
          <a:xfrm>
            <a:off x="571500" y="428625"/>
            <a:ext cx="8396605" cy="8407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ct val="96000"/>
              </a:lnSpc>
              <a:buNone/>
            </a:pPr>
            <a:r>
              <a:rPr lang="pt-BR" altLang="en-US" sz="285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Treinamento de seu time: Pilates - Uma visão</a:t>
            </a:r>
            <a:br>
              <a:rPr lang="pt-BR" altLang="en-US" sz="285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</a:br>
            <a:r>
              <a:rPr lang="pt-BR" altLang="en-US" sz="285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atual na área da Saúde</a:t>
            </a:r>
            <a:endParaRPr lang="pt-BR" altLang="en-US" sz="2850" b="1" dirty="0">
              <a:solidFill>
                <a:srgbClr val="2C3E2D"/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76020" y="2100580"/>
            <a:ext cx="2413635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buNone/>
            </a:pPr>
            <a:r>
              <a:rPr lang="pt-BR" altLang="en-US" sz="18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Formação Completa em Pilates</a:t>
            </a:r>
            <a:endParaRPr lang="pt-BR" altLang="en-US" sz="1800" b="1" dirty="0">
              <a:solidFill>
                <a:srgbClr val="2C3E2D"/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76020" y="3018790"/>
            <a:ext cx="2390140" cy="145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08000"/>
              </a:lnSpc>
              <a:buNone/>
            </a:pPr>
            <a:r>
              <a:rPr lang="pt-BR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Presencial dentro de seu studio, marcando a inauguração do negócio</a:t>
            </a: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b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b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pt-BR" alt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Metacorpus já certificou mais de 18 mil profissionais em todas as regiões do País.</a:t>
            </a:r>
            <a:endParaRPr lang="pt-BR" altLang="en-US" sz="1250" dirty="0">
              <a:solidFill>
                <a:srgbClr val="596A5A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  <p:sp>
        <p:nvSpPr>
          <p:cNvPr id="2" name="Text 2"/>
          <p:cNvSpPr/>
          <p:nvPr/>
        </p:nvSpPr>
        <p:spPr>
          <a:xfrm>
            <a:off x="5109845" y="2094230"/>
            <a:ext cx="2752725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buNone/>
            </a:pPr>
            <a:r>
              <a:rPr lang="pt-BR" altLang="en-US" sz="18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Montando seu time</a:t>
            </a:r>
            <a:endParaRPr lang="pt-BR" altLang="en-US" sz="1800" b="1" dirty="0">
              <a:solidFill>
                <a:srgbClr val="2C3E2D"/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</p:txBody>
      </p:sp>
      <p:sp>
        <p:nvSpPr>
          <p:cNvPr id="3" name="Text 3"/>
          <p:cNvSpPr/>
          <p:nvPr/>
        </p:nvSpPr>
        <p:spPr>
          <a:xfrm>
            <a:off x="5041900" y="2811145"/>
            <a:ext cx="2752725" cy="1661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0" indent="0" algn="l">
              <a:lnSpc>
                <a:spcPct val="108000"/>
              </a:lnSpc>
              <a:buNone/>
            </a:pPr>
            <a:r>
              <a:rPr lang="pt-BR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 Até 4 certificações para profissionais da saúde na turma presencial.</a:t>
            </a:r>
            <a:br>
              <a:rPr lang="pt-BR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pt-BR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 Acesso à formação completa Online da Metacorpus por 12 meses</a:t>
            </a:r>
            <a:br>
              <a:rPr lang="pt-BR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pt-BR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 Material didático impresso será fornecido.</a:t>
            </a:r>
            <a:endParaRPr lang="pt-BR" sz="1250" dirty="0">
              <a:solidFill>
                <a:srgbClr val="596A5A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081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5416386"/>
            <a:ext cx="1428750" cy="2060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760642"/>
            <a:ext cx="8572500" cy="4800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Rentabilidade com Segurança</a:t>
            </a:r>
            <a:endParaRPr lang="en-US" sz="2850" dirty="0"/>
          </a:p>
        </p:txBody>
      </p:sp>
      <p:sp>
        <p:nvSpPr>
          <p:cNvPr id="5" name="Text 1"/>
          <p:cNvSpPr/>
          <p:nvPr/>
        </p:nvSpPr>
        <p:spPr>
          <a:xfrm>
            <a:off x="571500" y="1729876"/>
            <a:ext cx="3871913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A3B8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INVESTIMENTO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571500" y="2308520"/>
            <a:ext cx="3871913" cy="507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R$ </a:t>
            </a:r>
            <a:r>
              <a:rPr lang="pt-BR" altLang="en-US" sz="33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48</a:t>
            </a:r>
            <a:r>
              <a:rPr lang="en-US" sz="33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571500" y="3088974"/>
            <a:ext cx="3871913" cy="3943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Inclui taxa de franquia e equipamentos de alta performance.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700588" y="1729876"/>
            <a:ext cx="3871913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A3B8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BREAKEVEN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4700588" y="2308520"/>
            <a:ext cx="3871913" cy="6090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4º a 6º</a:t>
            </a:r>
            <a:endParaRPr lang="en-US" sz="3300" dirty="0"/>
          </a:p>
        </p:txBody>
      </p:sp>
      <p:sp>
        <p:nvSpPr>
          <p:cNvPr id="10" name="Text 6"/>
          <p:cNvSpPr/>
          <p:nvPr/>
        </p:nvSpPr>
        <p:spPr>
          <a:xfrm>
            <a:off x="4700588" y="3088974"/>
            <a:ext cx="3871913" cy="3943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Mês estimado para atingir o ponto de equilíbrio operacional.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71500" y="3940476"/>
            <a:ext cx="3871913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A3B8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PAYBACK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571500" y="4519120"/>
            <a:ext cx="3871913" cy="6090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18-24m</a:t>
            </a:r>
            <a:endParaRPr lang="en-US" sz="3300" dirty="0"/>
          </a:p>
        </p:txBody>
      </p:sp>
      <p:sp>
        <p:nvSpPr>
          <p:cNvPr id="13" name="Text 9"/>
          <p:cNvSpPr/>
          <p:nvPr/>
        </p:nvSpPr>
        <p:spPr>
          <a:xfrm>
            <a:off x="571500" y="5299574"/>
            <a:ext cx="3871913" cy="3943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Prazo médio estimado para retorno total do capital investido.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700588" y="3940476"/>
            <a:ext cx="3871913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A3B8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MARGEM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4700588" y="4519120"/>
            <a:ext cx="3871913" cy="6090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25%+</a:t>
            </a:r>
            <a:endParaRPr lang="en-US" sz="3300" dirty="0"/>
          </a:p>
        </p:txBody>
      </p:sp>
      <p:sp>
        <p:nvSpPr>
          <p:cNvPr id="16" name="Text 12"/>
          <p:cNvSpPr/>
          <p:nvPr/>
        </p:nvSpPr>
        <p:spPr>
          <a:xfrm>
            <a:off x="4700588" y="5299574"/>
            <a:ext cx="3871913" cy="3943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Lucratividade líquida esperada sobre o faturamento mensal.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71500" y="5279538"/>
            <a:ext cx="3714750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3B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Estimativas baseadas no histórico da rede e podem variar conforme a região e gestão da unidade.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4651697"/>
            <a:ext cx="1428750" cy="2060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760642"/>
            <a:ext cx="8572500" cy="4800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 Caminho para o Sucesso</a:t>
            </a:r>
            <a:endParaRPr lang="en-US" sz="2850" dirty="0"/>
          </a:p>
        </p:txBody>
      </p:sp>
      <p:sp>
        <p:nvSpPr>
          <p:cNvPr id="5" name="Shape 1"/>
          <p:cNvSpPr/>
          <p:nvPr/>
        </p:nvSpPr>
        <p:spPr>
          <a:xfrm>
            <a:off x="571500" y="2144213"/>
            <a:ext cx="428625" cy="428625"/>
          </a:xfrm>
          <a:prstGeom prst="ellipse">
            <a:avLst/>
          </a:prstGeom>
          <a:solidFill>
            <a:srgbClr val="2C3E2D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Text 2"/>
          <p:cNvSpPr/>
          <p:nvPr/>
        </p:nvSpPr>
        <p:spPr>
          <a:xfrm>
            <a:off x="571500" y="2144213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2915738"/>
            <a:ext cx="796528" cy="24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Conexão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71500" y="3384352"/>
            <a:ext cx="1440163" cy="6000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Reunião inicial para alinhamento de expectativas e visão.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2211688" y="2144213"/>
            <a:ext cx="428625" cy="428625"/>
          </a:xfrm>
          <a:prstGeom prst="ellipse">
            <a:avLst/>
          </a:prstGeom>
          <a:solidFill>
            <a:srgbClr val="2C3E2D"/>
          </a:solidFill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2211688" y="2144213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211688" y="2915738"/>
            <a:ext cx="678656" cy="24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Análise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211688" y="3384352"/>
            <a:ext cx="1440163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Estudo detalhado de viabilidade técnica e comercial do ponto.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851877" y="2144213"/>
            <a:ext cx="428625" cy="428625"/>
          </a:xfrm>
          <a:prstGeom prst="ellipse">
            <a:avLst/>
          </a:prstGeom>
          <a:solidFill>
            <a:srgbClr val="2C3E2D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3851877" y="2144213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851877" y="2915738"/>
            <a:ext cx="1241227" cy="24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Formalização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851877" y="3384352"/>
            <a:ext cx="1440163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 do contrato e oficialização da parceria.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92065" y="2144213"/>
            <a:ext cx="428625" cy="428625"/>
          </a:xfrm>
          <a:prstGeom prst="ellipse">
            <a:avLst/>
          </a:prstGeom>
          <a:solidFill>
            <a:srgbClr val="2C3E2D"/>
          </a:solidFill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5492065" y="2144213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92065" y="2915738"/>
            <a:ext cx="976908" cy="24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Montagem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492065" y="3384352"/>
            <a:ext cx="1440163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Reforma, instalação de equipamentos e padronização visual.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132253" y="2144213"/>
            <a:ext cx="428625" cy="428625"/>
          </a:xfrm>
          <a:prstGeom prst="ellipse">
            <a:avLst/>
          </a:prstGeom>
          <a:solidFill>
            <a:srgbClr val="2C3E2D"/>
          </a:solidFill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7132253" y="2144213"/>
            <a:ext cx="428625" cy="4286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132253" y="2915738"/>
            <a:ext cx="1168003" cy="24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Inauguração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132253" y="3384352"/>
            <a:ext cx="1440163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596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Lançamento oficial com suporte total da rede Metacorpus.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777203"/>
            <a:ext cx="3693319" cy="1337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i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"Não importa o que você faz, e sim como você faz."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71500" y="3328792"/>
            <a:ext cx="3693319" cy="2089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A3B8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— JOSEPH PILATES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693444" y="413779"/>
            <a:ext cx="3879056" cy="4315941"/>
          </a:xfrm>
          <a:prstGeom prst="rect">
            <a:avLst/>
          </a:prstGeom>
          <a:solidFill>
            <a:srgbClr val="E8EDEB"/>
          </a:solidFill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069" y="842404"/>
            <a:ext cx="2143125" cy="3090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2069" y="1665833"/>
            <a:ext cx="1868091" cy="303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2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Gustavo Machado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122069" y="2169468"/>
            <a:ext cx="2780705" cy="1571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A3B8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GESTOR DE PARCERIAS E FRANQUIAS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122069" y="2698105"/>
            <a:ext cx="3021806" cy="2828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2C3E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WhatsApp: (21) 99602-5317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122069" y="3138143"/>
            <a:ext cx="3021806" cy="56575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2C3E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E-mail: gustavo@metacorpus.com.br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122069" y="3861057"/>
            <a:ext cx="3021806" cy="2828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2C3E2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Site: www.metacorpus.com.br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3909</Words>
  <Application>WPS Presentation</Application>
  <PresentationFormat>Apresentação na tela (16:9)</PresentationFormat>
  <Paragraphs>200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SimSun</vt:lpstr>
      <vt:lpstr>Wingdings</vt:lpstr>
      <vt:lpstr>Playfair Display Bold</vt:lpstr>
      <vt:lpstr>Segoe Print</vt:lpstr>
      <vt:lpstr>Playfair Display Bold</vt:lpstr>
      <vt:lpstr>Playfair Display Bold</vt:lpstr>
      <vt:lpstr>Montserrat</vt:lpstr>
      <vt:lpstr>Montserrat</vt:lpstr>
      <vt:lpstr>Montserrat</vt:lpstr>
      <vt:lpstr>Montserrat Bold</vt:lpstr>
      <vt:lpstr>Montserrat Bold</vt:lpstr>
      <vt:lpstr>Montserrat Bold</vt:lpstr>
      <vt:lpstr>Calibri</vt:lpstr>
      <vt:lpstr>Microsoft YaHei</vt:lpstr>
      <vt:lpstr>Arial Unicode MS</vt:lpstr>
      <vt:lpstr>Aptos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Micro</cp:lastModifiedBy>
  <cp:revision>3</cp:revision>
  <dcterms:created xsi:type="dcterms:W3CDTF">2026-05-06T18:11:00Z</dcterms:created>
  <dcterms:modified xsi:type="dcterms:W3CDTF">2026-05-21T12:24:58Z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3DFED099D25041B3B5A4E4BEF506FE22</vt:lpwstr>
  </property>
  <property fmtid="{D5CDD505-2E9C-101B-9397-08002B2CF9AE}" pid="3" name="KSOProductBuildVer">
    <vt:lpwstr>1046-11.2.0.11156</vt:lpwstr>
  </property>
</Properties>
</file>